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140" autoAdjust="0"/>
  </p:normalViewPr>
  <p:slideViewPr>
    <p:cSldViewPr snapToGrid="0" showGuides="1">
      <p:cViewPr varScale="1">
        <p:scale>
          <a:sx n="91" d="100"/>
          <a:sy n="91" d="100"/>
        </p:scale>
        <p:origin x="127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rcich, Alex Raymond" userId="3834b2af-4ff7-42c1-b012-297c4ae12742" providerId="ADAL" clId="{2C2E73D5-F986-401A-B66E-43C8F9FA0C21}"/>
    <pc:docChg chg="addSld delSld modSld">
      <pc:chgData name="Jurcich, Alex Raymond" userId="3834b2af-4ff7-42c1-b012-297c4ae12742" providerId="ADAL" clId="{2C2E73D5-F986-401A-B66E-43C8F9FA0C21}" dt="2025-12-12T18:12:51.644" v="14" actId="20577"/>
      <pc:docMkLst>
        <pc:docMk/>
      </pc:docMkLst>
      <pc:sldChg chg="modNotesTx">
        <pc:chgData name="Jurcich, Alex Raymond" userId="3834b2af-4ff7-42c1-b012-297c4ae12742" providerId="ADAL" clId="{2C2E73D5-F986-401A-B66E-43C8F9FA0C21}" dt="2025-12-12T18:12:23.418" v="2" actId="20577"/>
        <pc:sldMkLst>
          <pc:docMk/>
          <pc:sldMk cId="2313074746" sldId="256"/>
        </pc:sldMkLst>
      </pc:sldChg>
      <pc:sldChg chg="modNotesTx">
        <pc:chgData name="Jurcich, Alex Raymond" userId="3834b2af-4ff7-42c1-b012-297c4ae12742" providerId="ADAL" clId="{2C2E73D5-F986-401A-B66E-43C8F9FA0C21}" dt="2025-12-12T18:12:25.475" v="3" actId="20577"/>
        <pc:sldMkLst>
          <pc:docMk/>
          <pc:sldMk cId="544112858" sldId="257"/>
        </pc:sldMkLst>
      </pc:sldChg>
      <pc:sldChg chg="modNotesTx">
        <pc:chgData name="Jurcich, Alex Raymond" userId="3834b2af-4ff7-42c1-b012-297c4ae12742" providerId="ADAL" clId="{2C2E73D5-F986-401A-B66E-43C8F9FA0C21}" dt="2025-12-12T18:12:27.467" v="4" actId="20577"/>
        <pc:sldMkLst>
          <pc:docMk/>
          <pc:sldMk cId="1503085149" sldId="258"/>
        </pc:sldMkLst>
      </pc:sldChg>
      <pc:sldChg chg="modNotesTx">
        <pc:chgData name="Jurcich, Alex Raymond" userId="3834b2af-4ff7-42c1-b012-297c4ae12742" providerId="ADAL" clId="{2C2E73D5-F986-401A-B66E-43C8F9FA0C21}" dt="2025-12-12T18:12:29.373" v="5" actId="20577"/>
        <pc:sldMkLst>
          <pc:docMk/>
          <pc:sldMk cId="294987165" sldId="260"/>
        </pc:sldMkLst>
      </pc:sldChg>
      <pc:sldChg chg="modNotesTx">
        <pc:chgData name="Jurcich, Alex Raymond" userId="3834b2af-4ff7-42c1-b012-297c4ae12742" providerId="ADAL" clId="{2C2E73D5-F986-401A-B66E-43C8F9FA0C21}" dt="2025-12-12T18:12:31.218" v="6" actId="20577"/>
        <pc:sldMkLst>
          <pc:docMk/>
          <pc:sldMk cId="287886223" sldId="262"/>
        </pc:sldMkLst>
      </pc:sldChg>
      <pc:sldChg chg="modNotesTx">
        <pc:chgData name="Jurcich, Alex Raymond" userId="3834b2af-4ff7-42c1-b012-297c4ae12742" providerId="ADAL" clId="{2C2E73D5-F986-401A-B66E-43C8F9FA0C21}" dt="2025-12-12T18:12:33.478" v="7" actId="20577"/>
        <pc:sldMkLst>
          <pc:docMk/>
          <pc:sldMk cId="1933591640" sldId="263"/>
        </pc:sldMkLst>
      </pc:sldChg>
      <pc:sldChg chg="modNotesTx">
        <pc:chgData name="Jurcich, Alex Raymond" userId="3834b2af-4ff7-42c1-b012-297c4ae12742" providerId="ADAL" clId="{2C2E73D5-F986-401A-B66E-43C8F9FA0C21}" dt="2025-12-12T18:12:35.333" v="8" actId="20577"/>
        <pc:sldMkLst>
          <pc:docMk/>
          <pc:sldMk cId="2686835991" sldId="264"/>
        </pc:sldMkLst>
      </pc:sldChg>
      <pc:sldChg chg="modNotesTx">
        <pc:chgData name="Jurcich, Alex Raymond" userId="3834b2af-4ff7-42c1-b012-297c4ae12742" providerId="ADAL" clId="{2C2E73D5-F986-401A-B66E-43C8F9FA0C21}" dt="2025-12-12T18:12:37.804" v="9" actId="20577"/>
        <pc:sldMkLst>
          <pc:docMk/>
          <pc:sldMk cId="465474573" sldId="265"/>
        </pc:sldMkLst>
      </pc:sldChg>
      <pc:sldChg chg="modNotesTx">
        <pc:chgData name="Jurcich, Alex Raymond" userId="3834b2af-4ff7-42c1-b012-297c4ae12742" providerId="ADAL" clId="{2C2E73D5-F986-401A-B66E-43C8F9FA0C21}" dt="2025-12-12T18:12:40.165" v="10" actId="20577"/>
        <pc:sldMkLst>
          <pc:docMk/>
          <pc:sldMk cId="512571655" sldId="266"/>
        </pc:sldMkLst>
      </pc:sldChg>
      <pc:sldChg chg="modNotesTx">
        <pc:chgData name="Jurcich, Alex Raymond" userId="3834b2af-4ff7-42c1-b012-297c4ae12742" providerId="ADAL" clId="{2C2E73D5-F986-401A-B66E-43C8F9FA0C21}" dt="2025-12-12T18:12:45.910" v="11" actId="20577"/>
        <pc:sldMkLst>
          <pc:docMk/>
          <pc:sldMk cId="269511026" sldId="268"/>
        </pc:sldMkLst>
      </pc:sldChg>
      <pc:sldChg chg="modNotesTx">
        <pc:chgData name="Jurcich, Alex Raymond" userId="3834b2af-4ff7-42c1-b012-297c4ae12742" providerId="ADAL" clId="{2C2E73D5-F986-401A-B66E-43C8F9FA0C21}" dt="2025-12-12T18:12:47.939" v="12" actId="20577"/>
        <pc:sldMkLst>
          <pc:docMk/>
          <pc:sldMk cId="2056019606" sldId="269"/>
        </pc:sldMkLst>
      </pc:sldChg>
      <pc:sldChg chg="modNotesTx">
        <pc:chgData name="Jurcich, Alex Raymond" userId="3834b2af-4ff7-42c1-b012-297c4ae12742" providerId="ADAL" clId="{2C2E73D5-F986-401A-B66E-43C8F9FA0C21}" dt="2025-12-12T18:12:49.718" v="13" actId="20577"/>
        <pc:sldMkLst>
          <pc:docMk/>
          <pc:sldMk cId="3759888647" sldId="270"/>
        </pc:sldMkLst>
      </pc:sldChg>
      <pc:sldChg chg="modNotesTx">
        <pc:chgData name="Jurcich, Alex Raymond" userId="3834b2af-4ff7-42c1-b012-297c4ae12742" providerId="ADAL" clId="{2C2E73D5-F986-401A-B66E-43C8F9FA0C21}" dt="2025-12-12T18:12:51.644" v="14" actId="20577"/>
        <pc:sldMkLst>
          <pc:docMk/>
          <pc:sldMk cId="3678686424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C4957-023E-433C-B202-DBD278B4FD0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262E4-95D0-405F-9F51-9B17FDE2F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0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16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0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53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44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06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94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8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42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25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99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51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08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62E4-95D0-405F-9F51-9B17FDE2F5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6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0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8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0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7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6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2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9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5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5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613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42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72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45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80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4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8C102-0F3F-48F6-B0D6-A5E3851B84C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7DC4D-8AF4-4581-BAC3-462C09009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65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ces.cs.umass.edu/docs/traces/smartstar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mmds.org/" TargetMode="External"/><Relationship Id="rId4" Type="http://schemas.openxmlformats.org/officeDocument/2006/relationships/hyperlink" Target="https://www-users.cse.umn.edu/~kumar001/dmbook/index.php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69B9-4F28-55E8-FCC8-9FEE28786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27576"/>
            <a:ext cx="10497179" cy="2324222"/>
          </a:xfrm>
        </p:spPr>
        <p:txBody>
          <a:bodyPr>
            <a:normAutofit/>
          </a:bodyPr>
          <a:lstStyle/>
          <a:p>
            <a:r>
              <a:rPr lang="en-US" sz="3200" dirty="0"/>
              <a:t>Apartment Electricity &amp; Weather Analysis:        Clustering &amp; Pattern Discovery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DE798-226E-E8DF-801C-02D86C691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01119"/>
            <a:ext cx="8791575" cy="1655762"/>
          </a:xfrm>
        </p:spPr>
        <p:txBody>
          <a:bodyPr>
            <a:normAutofit/>
          </a:bodyPr>
          <a:lstStyle/>
          <a:p>
            <a:r>
              <a:rPr lang="en-US" dirty="0"/>
              <a:t>Alex Jurcich</a:t>
            </a:r>
          </a:p>
          <a:p>
            <a:r>
              <a:rPr lang="en-US" dirty="0"/>
              <a:t>Data Mining – Final Project </a:t>
            </a:r>
          </a:p>
          <a:p>
            <a:r>
              <a:rPr lang="en-US" dirty="0"/>
              <a:t>December 2025</a:t>
            </a:r>
          </a:p>
        </p:txBody>
      </p:sp>
    </p:spTree>
    <p:extLst>
      <p:ext uri="{BB962C8B-B14F-4D97-AF65-F5344CB8AC3E}">
        <p14:creationId xmlns:p14="http://schemas.microsoft.com/office/powerpoint/2010/main" val="231307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C446-C9AA-7BBF-B72D-F9AE7FDB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287294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F9064-5183-C7CA-DA25-6F0DD3877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896895"/>
            <a:ext cx="9904459" cy="3894304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Dataset: </a:t>
            </a:r>
            <a:r>
              <a:rPr lang="en-US" dirty="0"/>
              <a:t>85k daily observations across 114 apartments (2014-2016)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</a:t>
            </a:r>
            <a:r>
              <a:rPr lang="en-US" dirty="0"/>
              <a:t>: Identify energy-use patterns &amp; weather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Methods: </a:t>
            </a:r>
            <a:r>
              <a:rPr lang="en-US" dirty="0"/>
              <a:t>K-Means, DBSCAN, GMM, PCA, FP-Growth / Apriori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Questions: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do weather &amp; seasons influence electricity usage?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 daily patterns from meaningful behavioral clusters?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combinations do conditions commonly co-occur?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Outputs: </a:t>
            </a:r>
            <a:r>
              <a:rPr lang="en-US" dirty="0"/>
              <a:t>Cluster Insights + Rule Networks + Actionable patterns </a:t>
            </a:r>
          </a:p>
        </p:txBody>
      </p:sp>
    </p:spTree>
    <p:extLst>
      <p:ext uri="{BB962C8B-B14F-4D97-AF65-F5344CB8AC3E}">
        <p14:creationId xmlns:p14="http://schemas.microsoft.com/office/powerpoint/2010/main" val="54411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7CD4-C4FD-FD19-C944-6C50C4CE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18452"/>
          </a:xfrm>
        </p:spPr>
        <p:txBody>
          <a:bodyPr/>
          <a:lstStyle/>
          <a:p>
            <a:r>
              <a:rPr lang="en-US" dirty="0"/>
              <a:t>Dataset &amp; Preprocessing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007D7-E065-0695-076F-20442889E967}"/>
              </a:ext>
            </a:extLst>
          </p:cNvPr>
          <p:cNvSpPr/>
          <p:nvPr/>
        </p:nvSpPr>
        <p:spPr>
          <a:xfrm>
            <a:off x="340467" y="2514600"/>
            <a:ext cx="2198451" cy="1429966"/>
          </a:xfrm>
          <a:prstGeom prst="rect">
            <a:avLst/>
          </a:prstGeom>
          <a:solidFill>
            <a:schemeClr val="lt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Raw Data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85k observations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114 apartments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8D5B39-3590-8641-7DA0-052DF079F04A}"/>
              </a:ext>
            </a:extLst>
          </p:cNvPr>
          <p:cNvCxnSpPr>
            <a:cxnSpLocks/>
          </p:cNvCxnSpPr>
          <p:nvPr/>
        </p:nvCxnSpPr>
        <p:spPr>
          <a:xfrm flipV="1">
            <a:off x="2538918" y="3219854"/>
            <a:ext cx="885218" cy="97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102EFB3-ACB6-89D3-B42B-69B82152A373}"/>
              </a:ext>
            </a:extLst>
          </p:cNvPr>
          <p:cNvSpPr/>
          <p:nvPr/>
        </p:nvSpPr>
        <p:spPr>
          <a:xfrm>
            <a:off x="3424136" y="2504871"/>
            <a:ext cx="1671504" cy="1429966"/>
          </a:xfrm>
          <a:prstGeom prst="rect">
            <a:avLst/>
          </a:prstGeom>
          <a:solidFill>
            <a:schemeClr val="lt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Cleaning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IQR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Nulls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1D4B99-1612-82C1-952A-BB31EE9D7DBC}"/>
              </a:ext>
            </a:extLst>
          </p:cNvPr>
          <p:cNvCxnSpPr>
            <a:cxnSpLocks/>
          </p:cNvCxnSpPr>
          <p:nvPr/>
        </p:nvCxnSpPr>
        <p:spPr>
          <a:xfrm>
            <a:off x="5095640" y="3210125"/>
            <a:ext cx="8560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3725F-EF43-DD31-49C3-CA6EA7971C47}"/>
              </a:ext>
            </a:extLst>
          </p:cNvPr>
          <p:cNvSpPr/>
          <p:nvPr/>
        </p:nvSpPr>
        <p:spPr>
          <a:xfrm>
            <a:off x="5951674" y="2495142"/>
            <a:ext cx="2292484" cy="1429966"/>
          </a:xfrm>
          <a:prstGeom prst="rect">
            <a:avLst/>
          </a:prstGeom>
          <a:solidFill>
            <a:schemeClr val="lt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Feature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 Encoding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Weekend Encoding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metrics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908F9F-8B6D-5CCD-B94A-3F553F0B4362}"/>
              </a:ext>
            </a:extLst>
          </p:cNvPr>
          <p:cNvCxnSpPr>
            <a:cxnSpLocks/>
          </p:cNvCxnSpPr>
          <p:nvPr/>
        </p:nvCxnSpPr>
        <p:spPr>
          <a:xfrm>
            <a:off x="8244158" y="3200396"/>
            <a:ext cx="10603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CA0D76C-4499-3A19-BF1B-DA7AF118993B}"/>
              </a:ext>
            </a:extLst>
          </p:cNvPr>
          <p:cNvSpPr/>
          <p:nvPr/>
        </p:nvSpPr>
        <p:spPr>
          <a:xfrm>
            <a:off x="9304473" y="2485413"/>
            <a:ext cx="2292484" cy="1429966"/>
          </a:xfrm>
          <a:prstGeom prst="rect">
            <a:avLst/>
          </a:prstGeom>
          <a:solidFill>
            <a:schemeClr val="lt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Scaling + PCA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StandardScalar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PCA (7 components)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8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0901-6A54-D86A-EA6E-1955B991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9542"/>
          </a:xfrm>
        </p:spPr>
        <p:txBody>
          <a:bodyPr/>
          <a:lstStyle/>
          <a:p>
            <a:r>
              <a:rPr lang="en-US" dirty="0"/>
              <a:t>PCA Visualization of Daily Energy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F82166-C1E9-2F3D-ABA2-57597F988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409" y="1498060"/>
            <a:ext cx="7651208" cy="354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CCC40-42F0-3706-C196-0E3AF4D76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2888" y="5349509"/>
            <a:ext cx="7865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Reduced original feature set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 PCA components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These 7 components explain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~92.6%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total variance</a:t>
            </a:r>
          </a:p>
        </p:txBody>
      </p:sp>
    </p:spTree>
    <p:extLst>
      <p:ext uri="{BB962C8B-B14F-4D97-AF65-F5344CB8AC3E}">
        <p14:creationId xmlns:p14="http://schemas.microsoft.com/office/powerpoint/2010/main" val="29498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D873-A5B3-8FA1-2500-23DA2088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4315804" cy="937098"/>
          </a:xfrm>
        </p:spPr>
        <p:txBody>
          <a:bodyPr/>
          <a:lstStyle/>
          <a:p>
            <a:r>
              <a:rPr lang="en-US" dirty="0"/>
              <a:t>K-Means ++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DC2BE-9243-6306-3757-EDD879FD3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546698"/>
            <a:ext cx="4315807" cy="424450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Chose k = 4 using the elbow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Performed reasonably well given the density of the projection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Captured broad usage patterns tied to temperature + total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Noticeable overlap </a:t>
            </a:r>
          </a:p>
          <a:p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C4AF927-37D5-96C8-1782-B459F484A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466" y="1477299"/>
            <a:ext cx="6022800" cy="390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8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41499-05CD-3DEF-904B-D57267E2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9" name="Group 410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4110" name="Group 410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2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11" name="Group 411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1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4150" name="Rectangle 414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5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4D2D0C-65FA-0B80-0993-6CE8B3A0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DBSCAn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6F89C-10E6-6B89-0DCA-BEC983681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675" y="1782996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Used grid search of </a:t>
            </a:r>
            <a:r>
              <a:rPr lang="en-US" sz="2000" b="1"/>
              <a:t>eps</a:t>
            </a:r>
            <a:r>
              <a:rPr lang="en-US" sz="2000"/>
              <a:t> and </a:t>
            </a:r>
            <a:r>
              <a:rPr lang="en-US" sz="2000" b="1"/>
              <a:t>min_samples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Identified several small-to-midsize clusters, along with a moderate noise region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The density of the PCA projection makes DBSCAN struggle  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No Clear Patterns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DBSCAN is not a good method for this dataset</a:t>
            </a:r>
          </a:p>
        </p:txBody>
      </p:sp>
      <p:pic>
        <p:nvPicPr>
          <p:cNvPr id="4102" name="Picture 6" descr="A graph with colorful dots&#10;&#10;AI-generated content may be incorrect.">
            <a:extLst>
              <a:ext uri="{FF2B5EF4-FFF2-40B4-BE49-F238E27FC236}">
                <a16:creationId xmlns:a16="http://schemas.microsoft.com/office/drawing/2014/main" id="{30BABD8A-B378-DAC7-ED96-D0CB54B55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8434" y="1444976"/>
            <a:ext cx="5900691" cy="4366511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54" name="Group 415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15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359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D457E-B52F-C196-2248-4B4D5D57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5132" name="Group 5131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144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5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6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7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8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9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0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1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2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3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4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5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6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7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8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9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0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1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2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3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4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5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6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7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8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9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0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133" name="Group 5132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134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5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6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7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8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9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0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1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3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 useBgFill="1">
        <p:nvSpPr>
          <p:cNvPr id="5172" name="Rectangle 517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7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BA736-7C30-BF60-35D4-2AE16196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GMM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66FA6-71DF-8E1A-EB08-D001812CA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8075" y="1754949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Chose k = 4 using AIC/BIC comparison 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Performed comparably to K-Means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Still Significant overlap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62D5BD3-6580-D359-D9B6-561318639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7618" y="1482016"/>
            <a:ext cx="6063875" cy="392636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76" name="Group 517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77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5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6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7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8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9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0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1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2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3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4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5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6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7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8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9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0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1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2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3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683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C14A-20D8-4EAA-A51B-6E42C85E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67091"/>
          </a:xfrm>
        </p:spPr>
        <p:txBody>
          <a:bodyPr>
            <a:normAutofit fontScale="90000"/>
          </a:bodyPr>
          <a:lstStyle/>
          <a:p>
            <a:r>
              <a:rPr lang="en-US" dirty="0"/>
              <a:t>Association Rule Mining (Apriori + FP-Growth)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1D8B-F795-2B34-A7DD-737777CA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481" y="1827077"/>
            <a:ext cx="4179683" cy="4001513"/>
          </a:xfrm>
        </p:spPr>
        <p:txBody>
          <a:bodyPr>
            <a:normAutofit/>
          </a:bodyPr>
          <a:lstStyle/>
          <a:p>
            <a:r>
              <a:rPr lang="en-US" sz="2000" dirty="0"/>
              <a:t>Both Apriori and FP-Growth produced </a:t>
            </a:r>
            <a:r>
              <a:rPr lang="en-US" sz="2000" b="1" dirty="0"/>
              <a:t>identical rule sets</a:t>
            </a:r>
          </a:p>
          <a:p>
            <a:r>
              <a:rPr lang="en-US" sz="2000" b="1" dirty="0"/>
              <a:t>Strongest Rule Consistency Link: </a:t>
            </a:r>
          </a:p>
          <a:p>
            <a:pPr lvl="1"/>
            <a:r>
              <a:rPr lang="en-US" sz="1600" b="1" dirty="0"/>
              <a:t>Cold days → higher power usage</a:t>
            </a:r>
            <a:r>
              <a:rPr lang="en-US" sz="1600" dirty="0"/>
              <a:t> (winter heating)</a:t>
            </a:r>
          </a:p>
          <a:p>
            <a:pPr lvl="1"/>
            <a:r>
              <a:rPr lang="en-US" sz="1600" b="1" dirty="0"/>
              <a:t>Warm/summer days → higher total and mean power</a:t>
            </a:r>
            <a:r>
              <a:rPr lang="en-US" sz="1600" dirty="0"/>
              <a:t> (cooling loads)</a:t>
            </a:r>
          </a:p>
          <a:p>
            <a:r>
              <a:rPr lang="en-US" sz="2000" dirty="0">
                <a:sym typeface="Symbol" panose="05050102010706020507" pitchFamily="18" charset="2"/>
              </a:rPr>
              <a:t>Seasonality is the most predictable diver of pattern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9CDA7FB-E45F-124C-20B8-D9E80927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30" y="1827077"/>
            <a:ext cx="6707621" cy="400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474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992E-EAFF-404D-E044-ADB3FB78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3354"/>
          </a:xfrm>
        </p:spPr>
        <p:txBody>
          <a:bodyPr/>
          <a:lstStyle/>
          <a:p>
            <a:r>
              <a:rPr lang="en-US" dirty="0"/>
              <a:t>Conclusion &amp; Next Steps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6C8A-F623-D485-889A-E4162702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56" y="1566153"/>
            <a:ext cx="10758792" cy="4225048"/>
          </a:xfrm>
        </p:spPr>
        <p:txBody>
          <a:bodyPr/>
          <a:lstStyle/>
          <a:p>
            <a:r>
              <a:rPr lang="en-US" b="1" dirty="0"/>
              <a:t>Key Conclusions:</a:t>
            </a:r>
          </a:p>
          <a:p>
            <a:pPr lvl="1"/>
            <a:r>
              <a:rPr lang="en-US" dirty="0"/>
              <a:t>Daily energy usage clusters into a few broad behavioral patterns, primality shaped by temperature and season</a:t>
            </a:r>
          </a:p>
          <a:p>
            <a:pPr lvl="1"/>
            <a:r>
              <a:rPr lang="en-US" dirty="0"/>
              <a:t>Clustering performance was weak. Extremely dense with heavy overlap, making it difficult to form clean separatable groups</a:t>
            </a:r>
          </a:p>
          <a:p>
            <a:r>
              <a:rPr lang="en-US" b="1" dirty="0"/>
              <a:t>Next Steps: </a:t>
            </a:r>
          </a:p>
          <a:p>
            <a:pPr lvl="1"/>
            <a:r>
              <a:rPr lang="en-US" dirty="0"/>
              <a:t>Try time-series segmentation or dynamic clustering </a:t>
            </a:r>
          </a:p>
          <a:p>
            <a:pPr lvl="1"/>
            <a:r>
              <a:rPr lang="en-US" dirty="0"/>
              <a:t>Evaluate alternate dimensionality reduction </a:t>
            </a:r>
          </a:p>
          <a:p>
            <a:pPr lvl="1"/>
            <a:r>
              <a:rPr lang="en-US" dirty="0"/>
              <a:t>Train a prediction model </a:t>
            </a:r>
          </a:p>
        </p:txBody>
      </p:sp>
    </p:spTree>
    <p:extLst>
      <p:ext uri="{BB962C8B-B14F-4D97-AF65-F5344CB8AC3E}">
        <p14:creationId xmlns:p14="http://schemas.microsoft.com/office/powerpoint/2010/main" val="51257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840B-D5D8-145A-C0DD-5B39BF97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8E1F4-44E5-9A84-3595-85202B46B6B6}"/>
              </a:ext>
            </a:extLst>
          </p:cNvPr>
          <p:cNvSpPr txBox="1"/>
          <p:nvPr/>
        </p:nvSpPr>
        <p:spPr>
          <a:xfrm>
            <a:off x="1605776" y="2097088"/>
            <a:ext cx="82742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Smart*: An Open Data Set and Tools for Enabling Research in Sustainable Homes. Sean Barker, Aditya Mishra, David Irwin, Emmanuel </a:t>
            </a:r>
            <a:r>
              <a:rPr lang="en-US" dirty="0" err="1"/>
              <a:t>Cecchet</a:t>
            </a:r>
            <a:r>
              <a:rPr lang="en-US" dirty="0"/>
              <a:t>, Prashant Shenoy, and Jeannie Albrecht. Proceedings of the 2012 Workshop on Data Mining Applications in Sustainability (</a:t>
            </a:r>
            <a:r>
              <a:rPr lang="en-US" dirty="0" err="1"/>
              <a:t>SustKDD</a:t>
            </a:r>
            <a:r>
              <a:rPr lang="en-US" dirty="0"/>
              <a:t> 2012), Beijing, China, August 2012. Pdf </a:t>
            </a:r>
            <a:r>
              <a:rPr lang="en-US" u="sng" dirty="0">
                <a:hlinkClick r:id="rId3"/>
              </a:rPr>
              <a:t>Smart* | UMass Trace Repository</a:t>
            </a:r>
            <a:endParaRPr lang="en-US" dirty="0"/>
          </a:p>
          <a:p>
            <a:r>
              <a:rPr lang="en-US" dirty="0"/>
              <a:t>[2] Tan, P., Steinbach, M., </a:t>
            </a:r>
            <a:r>
              <a:rPr lang="en-US" dirty="0" err="1"/>
              <a:t>Karpatne</a:t>
            </a:r>
            <a:r>
              <a:rPr lang="en-US" dirty="0"/>
              <a:t>, A., &amp; Kumar, V. </a:t>
            </a:r>
            <a:r>
              <a:rPr lang="en-US" i="1" dirty="0"/>
              <a:t>Introduction to Data Mining (2nd ed.)</a:t>
            </a:r>
            <a:r>
              <a:rPr lang="en-US" dirty="0"/>
              <a:t>. Available via the U. Minnesota web site.</a:t>
            </a:r>
            <a:r>
              <a:rPr lang="en-US" dirty="0">
                <a:hlinkClick r:id="rId4"/>
              </a:rPr>
              <a:t> </a:t>
            </a:r>
            <a:r>
              <a:rPr lang="en-US" u="sng" dirty="0">
                <a:hlinkClick r:id="rId4"/>
              </a:rPr>
              <a:t>College of Science and Engineering</a:t>
            </a:r>
            <a:br>
              <a:rPr lang="en-US" u="sng" dirty="0">
                <a:hlinkClick r:id="rId4"/>
              </a:rPr>
            </a:br>
            <a:br>
              <a:rPr lang="en-US" u="sng" dirty="0">
                <a:hlinkClick r:id="rId4"/>
              </a:rPr>
            </a:br>
            <a:endParaRPr lang="en-US" dirty="0"/>
          </a:p>
          <a:p>
            <a:r>
              <a:rPr lang="en-US" dirty="0"/>
              <a:t>[3 ] “MMDS” (Massive Data Mining Series) –</a:t>
            </a:r>
            <a:r>
              <a:rPr lang="en-US" dirty="0">
                <a:hlinkClick r:id="rId5"/>
              </a:rPr>
              <a:t> </a:t>
            </a:r>
            <a:r>
              <a:rPr lang="en-US" u="sng" dirty="0">
                <a:hlinkClick r:id="rId5"/>
              </a:rPr>
              <a:t>http://www.mmds.org/</a:t>
            </a:r>
            <a:br>
              <a:rPr lang="en-US" u="sng" dirty="0">
                <a:hlinkClick r:id="rId5"/>
              </a:rPr>
            </a:br>
            <a:br>
              <a:rPr lang="en-US" u="sng" dirty="0">
                <a:hlinkClick r:id="rId5"/>
              </a:rPr>
            </a:br>
            <a:endParaRPr lang="en-US" dirty="0"/>
          </a:p>
          <a:p>
            <a:r>
              <a:rPr lang="en-US" dirty="0"/>
              <a:t>[4 ] Course slides from CSCI-B 565 (Data Mining)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53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DF02-8725-0A2F-7058-031C1687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Model Summary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26F56-4D87-2566-6C22-2FFE8EA7B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1849540"/>
            <a:ext cx="6801799" cy="2400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DB1C7C-114E-4670-3019-55E3A0E02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3" y="4577677"/>
            <a:ext cx="5888457" cy="18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7EC3-BB9A-FC89-D72B-211E3E176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 Model Summary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3A738-016E-ABAF-0D5B-51DE5E84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1901999"/>
            <a:ext cx="9132242" cy="187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1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AA33-81FE-CA3F-A46D-1AE8BB05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57882"/>
          </a:xfrm>
        </p:spPr>
        <p:txBody>
          <a:bodyPr>
            <a:normAutofit fontScale="90000"/>
          </a:bodyPr>
          <a:lstStyle/>
          <a:p>
            <a:r>
              <a:rPr lang="en-US" dirty="0"/>
              <a:t>Apriori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49697-7800-80F2-84D3-63A78253A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398870"/>
            <a:ext cx="8563670" cy="44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8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8190-561E-1EC0-546E-98936F01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94382"/>
          </a:xfrm>
        </p:spPr>
        <p:txBody>
          <a:bodyPr>
            <a:normAutofit fontScale="90000"/>
          </a:bodyPr>
          <a:lstStyle/>
          <a:p>
            <a:r>
              <a:rPr lang="en-US" dirty="0"/>
              <a:t>FP-Growth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F07A3-8E97-7E48-4F4E-D25126B11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773" y="1473200"/>
            <a:ext cx="8382659" cy="44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86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299</TotalTime>
  <Words>523</Words>
  <Application>Microsoft Office PowerPoint</Application>
  <PresentationFormat>Widescreen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Symbol</vt:lpstr>
      <vt:lpstr>Tw Cen MT</vt:lpstr>
      <vt:lpstr>Circuit</vt:lpstr>
      <vt:lpstr>Apartment Electricity &amp; Weather Analysis:        Clustering &amp; Pattern Discovery</vt:lpstr>
      <vt:lpstr>Project Overview</vt:lpstr>
      <vt:lpstr>Dataset &amp; Preprocessing Pipeline</vt:lpstr>
      <vt:lpstr>PCA Visualization of Daily Energy </vt:lpstr>
      <vt:lpstr>K-Means ++</vt:lpstr>
      <vt:lpstr>DBSCAn</vt:lpstr>
      <vt:lpstr>GMM</vt:lpstr>
      <vt:lpstr>Association Rule Mining (Apriori + FP-Growth)</vt:lpstr>
      <vt:lpstr>Conclusion &amp; Next Steps </vt:lpstr>
      <vt:lpstr>Thank You!</vt:lpstr>
      <vt:lpstr>K-means Model Summary </vt:lpstr>
      <vt:lpstr>GMM Model Summary </vt:lpstr>
      <vt:lpstr>Apriori </vt:lpstr>
      <vt:lpstr>FP-Growth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Jurcich, Alex Raymond</dc:creator>
  <cp:lastModifiedBy>Jurcich, Alex Raymond</cp:lastModifiedBy>
  <cp:revision>1</cp:revision>
  <dcterms:created xsi:type="dcterms:W3CDTF">2025-12-04T12:44:28Z</dcterms:created>
  <dcterms:modified xsi:type="dcterms:W3CDTF">2025-12-12T18:12:53Z</dcterms:modified>
</cp:coreProperties>
</file>